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74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CO5 — Assessment Test 2 (AT-2)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Presentation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Goal-Based, Utility-Based, Learning, and Multi-Agent architectures for real-world AI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CO5: Design AI-based systems using PySpark, RDD operations, and intelligent agent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architectures, using scalable systems and integrate components in distributed AI applications. (BTL 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05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16352" y="1005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005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01184" y="1005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005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86016" y="1005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1005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0848" y="100584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CADCFC">
              <a:alpha val="15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10058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Agent-Based Traffic Control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stateless, rule-driven agent reacts instantly to live traffic data to minimise congestion.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52560" y="2148840"/>
            <a:ext cx="2377440" cy="23774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/home/claude/co5at2/icons/traffic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· 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2F7FB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7" name="Image 0" descr="/home/claude/co5at2/icons/exclamation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Fixed-timer traffic signals cause unnecessary congestion because they cannot react to actual, changing traffic volume at an intersection.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that reacts instantly to live sensor data to minimise average vehicle wait time and queue length at every intersection.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Reaction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Length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Agent-Based Traffic Control System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· 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Agent Architecture?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2F7FB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7" name="Image 0" descr="/home/claude/co5at2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Direct Mapping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reactive agent maps percepts directly to actions via condition-action rules and keeps no internal model of history — ideal here, since the correct signal action depends only on the current queue state, not on what happened earlier.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by Design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decision latency extremely low — essential because signal decisions must be made within the current light cycle (seconds), not after a lengthy planning process.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Condition-Action Rules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State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Latency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Agent-Based Traffic Control System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· 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2F7FB"/>
          </a:solidFill>
          <a:ln w="12700">
            <a:solidFill>
              <a:srgbClr val="1F4E78"/>
            </a:solidFill>
            <a:prstDash val="solid"/>
          </a:ln>
        </p:spPr>
      </p:sp>
      <p:pic>
        <p:nvPicPr>
          <p:cNvPr id="5" name="Image 0" descr="/home/claude/co5at2/agent1_reactive_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1417320"/>
            <a:ext cx="864108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Agent-Based Traffic Control System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· 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Perception: Streaming Data Processing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2F7FB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2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7" name="Image 0" descr="/home/claude/co5at2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294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Ingestion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2941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loop sensors and traffic cameras continuously publish vehicle counts and queue lengths onto a streaming bus (Kafka); PySpark Structured Streaming consumes this as a sequence of micro-batch RDDs.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7784" y="160020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2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23816" y="185623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375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3816" y="2532888"/>
            <a:ext cx="294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Micro-Batches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23816" y="3017520"/>
            <a:ext cx="2941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micro-batch is processed independently, consistent with the reactive agent's stateless design — computing queue_length, wait_time, and incoming_flow_rate per lane/direction for the current instant.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41208" y="160020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2F7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7240" y="185623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7" name="Image 2" descr="/home/claude/co5at2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799" y="1983791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7240" y="2532888"/>
            <a:ext cx="294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Retained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97240" y="3017520"/>
            <a:ext cx="2941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percept is retained beyond the current cycle: the very next batch starts the decision process completely fresh, with no accumulated history.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94360" y="51206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21" name="Text 16"/>
          <p:cNvSpPr/>
          <p:nvPr/>
        </p:nvSpPr>
        <p:spPr>
          <a:xfrm>
            <a:off x="594360" y="51206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352544" y="51206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23" name="Text 18"/>
          <p:cNvSpPr/>
          <p:nvPr/>
        </p:nvSpPr>
        <p:spPr>
          <a:xfrm>
            <a:off x="4352544" y="51206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 RDDs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110728" y="51206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25" name="Text 20"/>
          <p:cNvSpPr/>
          <p:nvPr/>
        </p:nvSpPr>
        <p:spPr>
          <a:xfrm>
            <a:off x="8110728" y="51206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Per-Cycle Reset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Agent-Based Traffic Control System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· 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Condition-Action Rule Engine &amp; Signal Management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2F7FB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2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1051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7" name="Image 0" descr="/home/claude/co5at2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3807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Condition-Action Rules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queue_length(N-S) &gt; queue_length(E-W) + threshold THEN extend green(N-S)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pedestrian_button_pressed THEN trigger walk_signal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emergency_vehicle_detected THEN preempt_signal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fire in priority order every cycle, so safety rules always override routine balancing.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2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1810512"/>
            <a:ext cx="566928" cy="566928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231" y="193807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967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Minimisation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967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Green-time is dynamically extended toward the busier direction and shortened for the lighter one, rebalancing capacity to demand every cycle instead of a fixed split.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decisions use fresh percepts each cycle, the system self-corrects quickly after sudden shifts (e.g. an accident) that a static timer plan cannot handle.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Agent-Based Traffic Control System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· 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2F7FB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7" name="Image 0" descr="/home/claude/co5at2/ic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9419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response time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 and verify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many independent intersections — each only needs local percepts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2F7FB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12" name="Image 1" descr="/home/claude/co5at2/icons/exclamation_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19419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past states, so it cannot anticipate recurring patterns (e.g. daily rush hour)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proactively coordinate across multiple intersections without an added planning/learning layer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11765"/>
            </a:avLst>
          </a:prstGeom>
          <a:solidFill>
            <a:srgbClr val="1F4E78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525780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Localized, time-critical control loops where the correct action depends only on the current sensor reading.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Agent-Based Traffic Control System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005840" cy="10058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3" name="Image 0" descr="/home/claude/co5at2/icons/flag_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91211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D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1 · 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Agent-Based Traffic Control System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1051560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377440"/>
            <a:ext cx="9692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reactive agent architecture, combined with real-time streaming data processing, is well-suited to traffic signal control because it delivers the low-latency, locally-optimal decisions the problem demands — at the cost of not learning or planning across longer time horizons.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E8871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Condition-Action Rules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E8871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RDDs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E8871E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Response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Goal-Based Agent for Healthcare Diagnosis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agent formulates diagnostic goals and plans a sequence of tests and treatments to reach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52560" y="2148840"/>
            <a:ext cx="2377440" cy="2377440"/>
          </a:xfrm>
          <a:prstGeom prst="ellipse">
            <a:avLst/>
          </a:prstGeom>
          <a:solidFill>
            <a:srgbClr val="E9724C"/>
          </a:solidFill>
          <a:ln/>
        </p:spPr>
      </p:sp>
      <p:pic>
        <p:nvPicPr>
          <p:cNvPr id="6" name="Image 0" descr="/home/claude/co5at2/icons/heartb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· 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0FAF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co5at2/icons/exclamation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not a single lookup — it is a process of narrowing down possibilities toward a specific, actionable conclusion while managing risk and cost (e.g. unnecessary tests).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0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that treats diagnosis as a goal to be achieved through a sequence of reasoned actions, not a fixed reflex response.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vs. Benefit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Care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 for Healthcare Diagnosis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· 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Agent Architecture?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0FAF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co5at2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Persistent Goals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reactive agent, a goal-based agent maintains an explicit goal (e.g. 'confirm or rule out condition X') and considers the future consequences of actions before choosing one.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0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co5at2/icons/balance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Cost &amp; Risk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essential in healthcare, where actions (tests, treatments) carry costs and risks that must be weighed against how much they help reach the diagnostic goal.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Goal State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Reasoning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Actions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 for Healthcare Diagnosis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· 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/home/claude/co5at2/agent2_goalbased_healthc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1417320"/>
            <a:ext cx="8311896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 for Healthcare Diagnosis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· 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 &amp; Patient State Estimation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0FAF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co5at2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Pipeline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EHR records, live vitals, lab results, and clinician-entered symptoms feed a data pipeline that continuously updates a structured patient-state model.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0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co5at2/icons/comment_med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Patient-State Model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persistent state model is what distinguishes the goal-based agent from a reactive one: it accumulates evidence across the whole diagnostic encounter, not just the current percept.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Accumulation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Tracking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 for Healthcare Diagnosis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· 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Formulation, Planning &amp; Treatment Selection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0FAFA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105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co5at2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3807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Formulation &amp; Search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ambiguous symptoms, the agent formulates a specific goal such as 'rule out condition X' or 'reach a diagnosis with sufficient confidence to prescribe safely.'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then searches over possible test sequences using the medical knowledge base to predict which sequence most efficiently reaches the goal state.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0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181051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co5at2/icons/comment_med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231" y="193807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967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 &amp; Treatment Pathway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967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new piece of evidence, a goal test checks whether the patient-state model satisfies the diagnostic goal with sufficient confidence.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satisfied, the agent selects the treatment pathway whose predicted outcome best matches the diagnosis and patient-specific constraints (allergies, comorbidities, cost).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 for Healthcare Diagnosis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· 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0FA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0FA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7" name="Image 0" descr="/home/claude/co5at2/ic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9419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reasons about future consequences of actions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justify recommended tests/treatments in terms of the goal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its plan as new evidence arrives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0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12" name="Image 1" descr="/home/claude/co5at2/icons/exclamation_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19419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accurate, well-structured knowledge base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computationally expensive to search many test/treatment sequences for complex cases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itself weigh competing goals numerically (cost vs. speed vs. accuracy) without a utility-based extension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525780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decision processes where actions must be justified against an explicit, evolving objective.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Agent for Healthcare Diagnosis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005840" cy="1005840"/>
          </a:xfrm>
          <a:prstGeom prst="ellipse">
            <a:avLst/>
          </a:prstGeom>
          <a:solidFill>
            <a:srgbClr val="E9724C"/>
          </a:solidFill>
          <a:ln/>
        </p:spPr>
      </p:sp>
      <p:pic>
        <p:nvPicPr>
          <p:cNvPr id="3" name="Image 0" descr="/home/claude/co5at2/icons/flag_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91211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2 · 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Goal-Based Agent for Healthcare Diagnosis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1051560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377440"/>
            <a:ext cx="9692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diagnosis and treatment selection as goal-directed search over a continuously-updated patient state allows the agent to behave like a careful clinician working systematically toward a conclusion, rather than reacting to isolated symptoms.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E9724C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Formulation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E9724C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Planning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E9724C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Test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Utility-Based Agent for E-Commerce Recommendations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scores every candidate product by a utility function to maximise customer satisfaction.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52560" y="2148840"/>
            <a:ext cx="2377440" cy="23774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co5at2/icons/shopping_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· 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BF4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co5at2/icons/exclamation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is rarely a single 'correct' answer — many products could reasonably be shown, and the platform must choose the ones that actually maximise customer satisfaction.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BF4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that ranks options by a measurable degree of desirability, not a binary goal-satisfied/not-satisfied test.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of Desirability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for E-Commerce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· 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Agent Architecture?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BF4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co5at2/ic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Over Binary Goals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utility-based agent assigns a real-valued utility to each possible outcome and chooses the action that maximises expected utility.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BF4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/home/claude/co5at2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a Matter of Degree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fits e-commerce because 'a good recommendation' is inherently a matter of degree — more relevant, cheaper, better rated — rather than a single goal that is either met or not.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Real-Valued Utility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Expected-Value Maximisation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Preferences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for E-Commerce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· 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5" name="Image 0" descr="/home/claude/co5at2/agent3_utility_ecomme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17320"/>
            <a:ext cx="7808976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for E-Commerce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· 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Large-Scale Data Processing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BF4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co5at2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Feature Pipeline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browsing/purchase history, the full product catalog, and real-time session context (cart, device) are combined at scale using a distributed feature pipeline (PySpark), since a large platform must score millions of user-item pairs.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BF4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/home/claude/co5at2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Filtering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filtering stage narrows the catalog to a manageable candidate set (e.g. items in browsed categories, in stock) before the more expensive utility computation runs — keeping the pipeline scalable.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Feature Pipeline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Pairs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for E-Commerce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· 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Utility Function &amp; Ranking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BF4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1051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7" name="Image 0" descr="/home/claude/co5at2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3807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Multi-Attribute Utility Function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U(item) = w1·relevance + w2·(1/price_sensitivity)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w3·rating + w4·novelty − w5·shipping_delay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captures one dimension of what makes a recommendation good for this specific user; weights are tuned per user segment and refined via A/B tests.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BF4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181051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2" name="Image 1" descr="/home/claude/co5at2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231" y="193807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967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Output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967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item's utility is computed, items are ranked in descending order, and the top-K items form the personalised feed.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utility is a single combined score, trade-offs are handled automatically — a cheaper or better-rated item can outrank a 'more relevant' but costlier one.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for E-Commerce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· 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BF4E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BF4E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7" name="Image 0" descr="/home/claude/co5at2/ic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9419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handles trade-offs between competing factors (price, relevance, rating, delay)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single interpretable ranking score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smoothly as weights are retrained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BF4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12" name="Image 1" descr="/home/claude/co5at2/icons/exclamation_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19419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weight-tuning and enough behavioural data per user segment to be reliable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poorly-calibrated utility function can systematically over/under-value one factor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11765"/>
            </a:avLst>
          </a:prstGeom>
          <a:solidFill>
            <a:srgbClr val="B85042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525780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problems with many competing, gradable factors rather than one clear pass/fail outcome.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Agent for E-Commerce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" name="Image 0" descr="/home/claude/co5at2/icons/flag_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91211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7C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3 · 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Utility-Based Agent for E-Commerce Recommendations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1051560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377440"/>
            <a:ext cx="9692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 reasoning turns 'maximise customer satisfaction' from a vague objective into a concrete, tunable scoring function that can rank any number of candidate products consistently at scale.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Trade-offs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Ranking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Agent for Personalized Education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improves its own teaching policy over time using feedback from student performance.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52560" y="2148840"/>
            <a:ext cx="2377440" cy="23774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/home/claude/co5at2/icons/graduation_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 · 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3F8E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co5at2/icons/exclamation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one-size-fits-all curriculum either bores advanced students or overwhelms struggling ones; the ideal system continuously adjusts difficulty to each learner's evolving ability.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3F8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whose recommendation policy actually improves over time from experience, rather than remaining static after deployment.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Per-Learner Pacing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 System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 · 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Agent Architecture?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3F8E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co5at2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From Feedback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agent is the only classical architecture that explicitly improves its own performance element using feedback from a critic.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3F8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home/claude/co5at2/icons/balance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Isn't Known in Advance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necessary here because the 'right' difficulty level for a given student is not known in advance and must be discovered and refined from observed outcomes.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Feedback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Policy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Discovered, Not Fixed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 System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 · 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3F8EF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/home/claude/co5at2/agent4_learning_edu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417320"/>
            <a:ext cx="8814816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 System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 · 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Element &amp; Critic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3F8E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co5at2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Element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next exercise, hint, or explanation to present, based on the current student model (estimated mastery per topic).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3F8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home/claude/co5at2/icons/comment_medi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predicted outcome (expected quiz score) against the actual outcome, producing a feedback/reward signal indicating whether the last decision was well-calibrated.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Model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Signal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 System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 · 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Element, Problem Generator &amp; PySpark Scale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3F8E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1051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co5at2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3807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Element &amp; Problem Generator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Element uses the Critic's feedback to update the student mastery model and difficulty-adaptation policy — this is where real improvement happens over time.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Generator occasionally suggests exploratory exercises so the system keeps gathering informative data, preventing stale mastery estimates.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3F8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1810512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2" name="Image 1" descr="/home/claude/co5at2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231" y="193807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967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PySpark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967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Clickstream, quiz, and video-engagement events from thousands of learners are aggregated using PySpark RDD operations (groupByKey by student_id, aggregateByKey for running averages).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RDDs by student_id lets each student's model update run independently and in parallel, keeping feedback near real-time at scale.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 System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 · 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3F8E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7" name="Image 0" descr="/home/claude/co5at2/ic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9419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improves over time without manual re-tuning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Personalises at scale across many concurrent learners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generator prevents premature convergence to a suboptimal policy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3F8EF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12" name="Image 1" descr="/home/claude/co5at2/icons/exclamation_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19419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Cold-start: needs enough interaction data per student before estimates become reliable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exercises can occasionally present a mismatched difficulty level in service of long-run learning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525780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Long-running, personalized systems where the optimal policy per user is unknown and must be learned from feedback.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 for Personalized Education System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/home/claude/co5at2/icons/flag_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91211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4 · 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Agent for Personalized Education System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1051560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377440"/>
            <a:ext cx="9692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four-component learning-agent architecture, combined with PySpark-based distributed aggregation, lets a personalised education platform continuously refine what it delivers to each learner while scaling to a large, concurrent student population.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2A541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+ Critic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2A541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at Scale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F2A541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 for Disaster Management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2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specialised sensor, decision, communication, and coordination agents collaborate on a shared bus.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052560" y="2148840"/>
            <a:ext cx="2377440" cy="23774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co5at2/icons/exclamation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743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· SLIDE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CF3F3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CF3F3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7" name="Image 0" descr="/home/claude/co5at2/icons/exclamation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detection and response naturally spans many specialised sub-tasks — sensing, image analysis, communication with field units, and decision-making — best handled by separate, cooperating components.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CF3F3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1" descr="/home/claude/co5at2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multi-agent system where specialised agents share evidence and coordinate a response faster and more reliably than any single agent could alone.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Evidence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Sub-Tasks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Response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for Disaster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· 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Agent Architecture?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CF3F3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CF3F3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7" name="Image 0" descr="/home/claude/co5at2/icons/network_w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Expertise per Source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source (sensors, imagery, social reports, field units) requires different expertise to interpret, and the geographic scale of a disaster means processing must be distributed.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54496" y="1600200"/>
            <a:ext cx="5340096" cy="2514600"/>
          </a:xfrm>
          <a:prstGeom prst="roundRect">
            <a:avLst>
              <a:gd name="adj" fmla="val 3636"/>
            </a:avLst>
          </a:prstGeom>
          <a:solidFill>
            <a:srgbClr val="FCF3F3"/>
          </a:solidFill>
          <a:ln/>
        </p:spPr>
      </p:sp>
      <p:sp>
        <p:nvSpPr>
          <p:cNvPr id="11" name="Shape 8"/>
          <p:cNvSpPr/>
          <p:nvPr/>
        </p:nvSpPr>
        <p:spPr>
          <a:xfrm>
            <a:off x="6510528" y="185623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1" descr="/home/claude/co5at2/icons/users_c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87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0528" y="2532888"/>
            <a:ext cx="4828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Concurrent, Cooperating Agents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0528" y="3017520"/>
            <a:ext cx="48280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 lets each agent specialise and operate concurrently while still contributing evidence toward one shared, coordinated decision.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6" name="Text 12"/>
          <p:cNvSpPr/>
          <p:nvPr/>
        </p:nvSpPr>
        <p:spPr>
          <a:xfrm>
            <a:off x="594360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Processing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52544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18" name="Text 14"/>
          <p:cNvSpPr/>
          <p:nvPr/>
        </p:nvSpPr>
        <p:spPr>
          <a:xfrm>
            <a:off x="4352544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Agents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10728" y="44348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20" name="Text 16"/>
          <p:cNvSpPr/>
          <p:nvPr/>
        </p:nvSpPr>
        <p:spPr>
          <a:xfrm>
            <a:off x="8110728" y="44348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Decision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for Disaster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· 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CF3F3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5" name="Image 0" descr="/home/claude/co5at2/agent5_multiagent_dis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1417320"/>
            <a:ext cx="8311896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for Disaster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· 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Roles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CF3F3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CF3F3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5623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7" name="Image 0" descr="/home/claude/co5at2/icons/satellite_di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8379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532888"/>
            <a:ext cx="294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Agents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3017520"/>
            <a:ext cx="2941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processes seismic/water-level sensor streams for statistical anomalies; Agent B processes satellite/drone imagery and social-media reports for corroborating evidence.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7784" y="160020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CF3F3"/>
          </a:solidFill>
          <a:ln/>
        </p:spPr>
      </p:sp>
      <p:sp>
        <p:nvSpPr>
          <p:cNvPr id="11" name="Shape 8"/>
          <p:cNvSpPr/>
          <p:nvPr/>
        </p:nvSpPr>
        <p:spPr>
          <a:xfrm>
            <a:off x="4623816" y="185623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1" descr="/home/claude/co5at2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375" y="198379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3816" y="2532888"/>
            <a:ext cx="294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Agent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23816" y="3017520"/>
            <a:ext cx="2941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evidence from both sensor agents to assess disaster likelihood and severity, and formulates a response plan.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41208" y="1600200"/>
            <a:ext cx="3453384" cy="3200400"/>
          </a:xfrm>
          <a:prstGeom prst="roundRect">
            <a:avLst>
              <a:gd name="adj" fmla="val 2857"/>
            </a:avLst>
          </a:prstGeom>
          <a:solidFill>
            <a:srgbClr val="FCF3F3"/>
          </a:solidFill>
          <a:ln/>
        </p:spPr>
      </p:sp>
      <p:sp>
        <p:nvSpPr>
          <p:cNvPr id="16" name="Shape 12"/>
          <p:cNvSpPr/>
          <p:nvPr/>
        </p:nvSpPr>
        <p:spPr>
          <a:xfrm>
            <a:off x="8397240" y="185623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7" name="Image 2" descr="/home/claude/co5at2/icons/broadcast_t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799" y="1983791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7240" y="2532888"/>
            <a:ext cx="2941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Coordination Agents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97240" y="3017520"/>
            <a:ext cx="2941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messages and broadcast warnings; allocate field units and resolve resource conflicts across affected zones.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94360" y="51206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21" name="Text 16"/>
          <p:cNvSpPr/>
          <p:nvPr/>
        </p:nvSpPr>
        <p:spPr>
          <a:xfrm>
            <a:off x="594360" y="51206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352544" y="51206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23" name="Text 18"/>
          <p:cNvSpPr/>
          <p:nvPr/>
        </p:nvSpPr>
        <p:spPr>
          <a:xfrm>
            <a:off x="4352544" y="51206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Fusion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110728" y="5120640"/>
            <a:ext cx="3483864" cy="56692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25" name="Text 20"/>
          <p:cNvSpPr/>
          <p:nvPr/>
        </p:nvSpPr>
        <p:spPr>
          <a:xfrm>
            <a:off x="8110728" y="5120640"/>
            <a:ext cx="34838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Field-Unit Allocation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for Disaster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· 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Coordination Strategy &amp; Real-Time Decision-Making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CF3F3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CF3F3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81051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7" name="Image 0" descr="/home/claude/co5at2/icons/network_w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951" y="193807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Blackboard / Message Bus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5039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communicate via a shared blackboard using structured performatives (inform, request, propose — FIPA-ACL style) rather than direct point-to-point calls.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the Decision Agent fuse independently-generated evidence from multiple sensor agents into one coherent severity assessment.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CF3F3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1810512"/>
            <a:ext cx="566928" cy="56692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1" descr="/home/claude/co5at2/icons/broadcast_t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231" y="193807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19672" y="2487168"/>
            <a:ext cx="4837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519672" y="2971800"/>
            <a:ext cx="4837176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evidence streams in, the Decision Agent continuously re-evaluates severity, and the Coordination Agent adjusts field-unit allocation on the fly rather than committing to a static plan.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units report status back, closing the loop and avoiding duplicated or conflicting responses.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for Disaster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· 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475720" y="365760"/>
            <a:ext cx="502920" cy="502920"/>
          </a:xfrm>
          <a:prstGeom prst="ellipse">
            <a:avLst/>
          </a:prstGeom>
          <a:solidFill>
            <a:srgbClr val="FCF3F3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CF3F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7" name="Image 0" descr="/home/claude/co5at2/icons/bal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19419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improves the quality of each sub-task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be added or scaled independently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Shared-blackboard communication is robust to individual agent slowdowns or failures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49240" cy="3429000"/>
          </a:xfrm>
          <a:prstGeom prst="roundRect">
            <a:avLst>
              <a:gd name="adj" fmla="val 2667"/>
            </a:avLst>
          </a:prstGeom>
          <a:solidFill>
            <a:srgbClr val="FCF3F3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B23A32"/>
          </a:solidFill>
          <a:ln/>
        </p:spPr>
      </p:sp>
      <p:pic>
        <p:nvPicPr>
          <p:cNvPr id="12" name="Image 1" descr="/home/claude/co5at2/icons/exclamation_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117" y="19419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2560320"/>
            <a:ext cx="4800600" cy="914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protocol/message design to avoid conflicting instructions between agents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latency depends on the slowest agent in a decision chain — coordination overhead must stay fast enough for genuine emergencies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4360" y="5257800"/>
            <a:ext cx="11018520" cy="777240"/>
          </a:xfrm>
          <a:prstGeom prst="roundRect">
            <a:avLst>
              <a:gd name="adj" fmla="val 11765"/>
            </a:avLst>
          </a:prstGeom>
          <a:solidFill>
            <a:srgbClr val="990011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5257800"/>
            <a:ext cx="10378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Large-scale, multi-source problems where specialised, concurrently-operating components must reach one coordinated decision.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 for Disaster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" name="Image 0" descr="/home/claude/co5at2/icons/flag_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912114"/>
            <a:ext cx="553212" cy="5532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C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 · 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System for Disaster Management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10515600" cy="2468880"/>
          </a:xfrm>
          <a:prstGeom prst="roundRect">
            <a:avLst>
              <a:gd name="adj" fmla="val 4444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377440"/>
            <a:ext cx="9692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architecture with a shared communication layer lets a disaster-management system combine specialised, concurrently-operating agents into one fast, corroborated early-warning and response capability that a single centralised agent would struggle to match.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Blackboard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5212080"/>
            <a:ext cx="3337560" cy="868680"/>
          </a:xfrm>
          <a:prstGeom prst="roundRect">
            <a:avLst>
              <a:gd name="adj" fmla="val 10526"/>
            </a:avLst>
          </a:prstGeom>
          <a:solidFill>
            <a:srgbClr val="2F3C7E"/>
          </a:solidFill>
          <a:ln/>
        </p:spPr>
      </p:sp>
      <p:sp>
        <p:nvSpPr>
          <p:cNvPr id="13" name="Text 10"/>
          <p:cNvSpPr/>
          <p:nvPr/>
        </p:nvSpPr>
        <p:spPr>
          <a:xfrm>
            <a:off x="8183880" y="52120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2026-08-23T11:40:41Z</dcterms:created>
  <dcterms:modified xsi:type="dcterms:W3CDTF">2026-08-23T11:40:41Z</dcterms:modified>
</cp:coreProperties>
</file>